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F84663-51F5-4B14-A3B2-3306195890BB}" v="1" dt="2026-08-21T19:46:46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E420D7-B7F9-4D2F-8289-A2C99D6E724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35E92C-04E6-49DB-A64E-8E75C8DA49DC}">
      <dgm:prSet custT="1"/>
      <dgm:spPr/>
      <dgm:t>
        <a:bodyPr/>
        <a:lstStyle/>
        <a:p>
          <a:pPr algn="ctr"/>
          <a:r>
            <a:rPr lang="en-US" sz="4400" b="1" dirty="0"/>
            <a:t>Key Insights</a:t>
          </a:r>
        </a:p>
      </dgm:t>
    </dgm:pt>
    <dgm:pt modelId="{41C4C13E-68F6-4D78-8BCB-BDA05EBB4CCA}" type="parTrans" cxnId="{8EB2DA92-A3C3-47D0-A245-2CED4FB41844}">
      <dgm:prSet/>
      <dgm:spPr/>
      <dgm:t>
        <a:bodyPr/>
        <a:lstStyle/>
        <a:p>
          <a:endParaRPr lang="en-US"/>
        </a:p>
      </dgm:t>
    </dgm:pt>
    <dgm:pt modelId="{5D92A9E8-2265-4096-9228-5713D90AE8A3}" type="sibTrans" cxnId="{8EB2DA92-A3C3-47D0-A245-2CED4FB41844}">
      <dgm:prSet/>
      <dgm:spPr/>
      <dgm:t>
        <a:bodyPr/>
        <a:lstStyle/>
        <a:p>
          <a:endParaRPr lang="en-US"/>
        </a:p>
      </dgm:t>
    </dgm:pt>
    <dgm:pt modelId="{A88BD759-3805-4FE9-B570-8DED5DD10E44}">
      <dgm:prSet/>
      <dgm:spPr/>
      <dgm:t>
        <a:bodyPr/>
        <a:lstStyle/>
        <a:p>
          <a:r>
            <a:rPr lang="en-US" dirty="0"/>
            <a:t>1</a:t>
          </a:r>
          <a:r>
            <a:rPr lang="en-US" dirty="0">
              <a:highlight>
                <a:srgbClr val="FFFF00"/>
              </a:highlight>
            </a:rPr>
            <a:t>) Severe Risk Concentration</a:t>
          </a:r>
          <a:r>
            <a:rPr lang="en-US" dirty="0"/>
            <a:t>: The BNPL portfolio faces critical credit risk, with a 39.05% default rate, 73.2% high-risk customers, and 88.22% delayed repayments.</a:t>
          </a:r>
        </a:p>
      </dgm:t>
    </dgm:pt>
    <dgm:pt modelId="{69665123-4369-49A6-8798-A04B395953CB}" type="parTrans" cxnId="{A7E3DA7C-F134-46F9-9B62-FB7CCF18F85B}">
      <dgm:prSet/>
      <dgm:spPr/>
      <dgm:t>
        <a:bodyPr/>
        <a:lstStyle/>
        <a:p>
          <a:endParaRPr lang="en-US"/>
        </a:p>
      </dgm:t>
    </dgm:pt>
    <dgm:pt modelId="{F5947971-024A-4917-942E-93E77E7B471D}" type="sibTrans" cxnId="{A7E3DA7C-F134-46F9-9B62-FB7CCF18F85B}">
      <dgm:prSet/>
      <dgm:spPr/>
      <dgm:t>
        <a:bodyPr/>
        <a:lstStyle/>
        <a:p>
          <a:endParaRPr lang="en-US"/>
        </a:p>
      </dgm:t>
    </dgm:pt>
    <dgm:pt modelId="{4082FDE2-C6BD-48D4-A694-375F44EB27A5}">
      <dgm:prSet/>
      <dgm:spPr/>
      <dgm:t>
        <a:bodyPr/>
        <a:lstStyle/>
        <a:p>
          <a:r>
            <a:rPr lang="en-US" dirty="0"/>
            <a:t>2) </a:t>
          </a:r>
          <a:r>
            <a:rPr lang="en-US" dirty="0">
              <a:highlight>
                <a:srgbClr val="FFFF00"/>
              </a:highlight>
            </a:rPr>
            <a:t>Demographic Vulnerability</a:t>
          </a:r>
          <a:r>
            <a:rPr lang="en-US" dirty="0"/>
            <a:t>: Younger customers (18–25) and lower credit bands (Poor score) are the main drivers of default (46%–50% default rate) .</a:t>
          </a:r>
        </a:p>
      </dgm:t>
    </dgm:pt>
    <dgm:pt modelId="{700E602E-CDFF-4C89-9F75-DD03639B5674}" type="parTrans" cxnId="{B1B5AB77-880E-4556-B9A2-B8D6C68794BC}">
      <dgm:prSet/>
      <dgm:spPr/>
      <dgm:t>
        <a:bodyPr/>
        <a:lstStyle/>
        <a:p>
          <a:endParaRPr lang="en-US"/>
        </a:p>
      </dgm:t>
    </dgm:pt>
    <dgm:pt modelId="{F2E89BC9-DA3D-4F11-A2F2-1B7707C7BDEB}" type="sibTrans" cxnId="{B1B5AB77-880E-4556-B9A2-B8D6C68794BC}">
      <dgm:prSet/>
      <dgm:spPr/>
      <dgm:t>
        <a:bodyPr/>
        <a:lstStyle/>
        <a:p>
          <a:endParaRPr lang="en-US"/>
        </a:p>
      </dgm:t>
    </dgm:pt>
    <dgm:pt modelId="{916E485A-7B6B-4C34-9703-0911F115B1A3}">
      <dgm:prSet/>
      <dgm:spPr/>
      <dgm:t>
        <a:bodyPr/>
        <a:lstStyle/>
        <a:p>
          <a:r>
            <a:rPr lang="en-US" dirty="0"/>
            <a:t>3) </a:t>
          </a:r>
          <a:r>
            <a:rPr lang="en-US" dirty="0">
              <a:highlight>
                <a:srgbClr val="FFFF00"/>
              </a:highlight>
            </a:rPr>
            <a:t>High-Value Anchors</a:t>
          </a:r>
          <a:r>
            <a:rPr lang="en-US" dirty="0"/>
            <a:t>: The 46–60 age group delivers the highest revenue (14.5M) with the lowest risk profile (35% default rate).</a:t>
          </a:r>
        </a:p>
      </dgm:t>
    </dgm:pt>
    <dgm:pt modelId="{A4509E43-0772-4F9F-9BA3-443D9220739F}" type="parTrans" cxnId="{9CE526A8-D585-4905-BCB2-1ABD3A3EE226}">
      <dgm:prSet/>
      <dgm:spPr/>
      <dgm:t>
        <a:bodyPr/>
        <a:lstStyle/>
        <a:p>
          <a:endParaRPr lang="en-US"/>
        </a:p>
      </dgm:t>
    </dgm:pt>
    <dgm:pt modelId="{870C4ED6-91FC-4A6C-A608-C6E78BE6ED75}" type="sibTrans" cxnId="{9CE526A8-D585-4905-BCB2-1ABD3A3EE226}">
      <dgm:prSet/>
      <dgm:spPr/>
      <dgm:t>
        <a:bodyPr/>
        <a:lstStyle/>
        <a:p>
          <a:endParaRPr lang="en-US"/>
        </a:p>
      </dgm:t>
    </dgm:pt>
    <dgm:pt modelId="{39FCECF5-9F40-4EEF-9B02-24042BCB03E4}" type="pres">
      <dgm:prSet presAssocID="{F4E420D7-B7F9-4D2F-8289-A2C99D6E7245}" presName="outerComposite" presStyleCnt="0">
        <dgm:presLayoutVars>
          <dgm:chMax val="5"/>
          <dgm:dir/>
          <dgm:resizeHandles val="exact"/>
        </dgm:presLayoutVars>
      </dgm:prSet>
      <dgm:spPr/>
    </dgm:pt>
    <dgm:pt modelId="{97F679B7-3D70-410E-BA2A-98F294D515CC}" type="pres">
      <dgm:prSet presAssocID="{F4E420D7-B7F9-4D2F-8289-A2C99D6E7245}" presName="dummyMaxCanvas" presStyleCnt="0">
        <dgm:presLayoutVars/>
      </dgm:prSet>
      <dgm:spPr/>
    </dgm:pt>
    <dgm:pt modelId="{E1610992-5C27-42B2-94B7-5E621BFB3E0C}" type="pres">
      <dgm:prSet presAssocID="{F4E420D7-B7F9-4D2F-8289-A2C99D6E7245}" presName="FourNodes_1" presStyleLbl="node1" presStyleIdx="0" presStyleCnt="4">
        <dgm:presLayoutVars>
          <dgm:bulletEnabled val="1"/>
        </dgm:presLayoutVars>
      </dgm:prSet>
      <dgm:spPr/>
    </dgm:pt>
    <dgm:pt modelId="{D7BB408D-8119-44B9-9EBA-4F8EF7440331}" type="pres">
      <dgm:prSet presAssocID="{F4E420D7-B7F9-4D2F-8289-A2C99D6E7245}" presName="FourNodes_2" presStyleLbl="node1" presStyleIdx="1" presStyleCnt="4">
        <dgm:presLayoutVars>
          <dgm:bulletEnabled val="1"/>
        </dgm:presLayoutVars>
      </dgm:prSet>
      <dgm:spPr/>
    </dgm:pt>
    <dgm:pt modelId="{694C00D1-F719-4511-AC6C-7ADD27037206}" type="pres">
      <dgm:prSet presAssocID="{F4E420D7-B7F9-4D2F-8289-A2C99D6E7245}" presName="FourNodes_3" presStyleLbl="node1" presStyleIdx="2" presStyleCnt="4">
        <dgm:presLayoutVars>
          <dgm:bulletEnabled val="1"/>
        </dgm:presLayoutVars>
      </dgm:prSet>
      <dgm:spPr/>
    </dgm:pt>
    <dgm:pt modelId="{16569416-6DCB-49E1-9343-F42E9171AD0A}" type="pres">
      <dgm:prSet presAssocID="{F4E420D7-B7F9-4D2F-8289-A2C99D6E7245}" presName="FourNodes_4" presStyleLbl="node1" presStyleIdx="3" presStyleCnt="4">
        <dgm:presLayoutVars>
          <dgm:bulletEnabled val="1"/>
        </dgm:presLayoutVars>
      </dgm:prSet>
      <dgm:spPr/>
    </dgm:pt>
    <dgm:pt modelId="{B608441A-EBCA-4FD0-9634-03501C7F7893}" type="pres">
      <dgm:prSet presAssocID="{F4E420D7-B7F9-4D2F-8289-A2C99D6E7245}" presName="FourConn_1-2" presStyleLbl="fgAccFollowNode1" presStyleIdx="0" presStyleCnt="3">
        <dgm:presLayoutVars>
          <dgm:bulletEnabled val="1"/>
        </dgm:presLayoutVars>
      </dgm:prSet>
      <dgm:spPr/>
    </dgm:pt>
    <dgm:pt modelId="{701A79FD-F864-490A-AABF-5275215CA7E8}" type="pres">
      <dgm:prSet presAssocID="{F4E420D7-B7F9-4D2F-8289-A2C99D6E7245}" presName="FourConn_2-3" presStyleLbl="fgAccFollowNode1" presStyleIdx="1" presStyleCnt="3">
        <dgm:presLayoutVars>
          <dgm:bulletEnabled val="1"/>
        </dgm:presLayoutVars>
      </dgm:prSet>
      <dgm:spPr/>
    </dgm:pt>
    <dgm:pt modelId="{DDA6DC63-CA0A-42E9-9C9F-EB5CAE17808E}" type="pres">
      <dgm:prSet presAssocID="{F4E420D7-B7F9-4D2F-8289-A2C99D6E7245}" presName="FourConn_3-4" presStyleLbl="fgAccFollowNode1" presStyleIdx="2" presStyleCnt="3">
        <dgm:presLayoutVars>
          <dgm:bulletEnabled val="1"/>
        </dgm:presLayoutVars>
      </dgm:prSet>
      <dgm:spPr/>
    </dgm:pt>
    <dgm:pt modelId="{10AAC3E5-DDFA-4BE4-887B-1791D7AEB71D}" type="pres">
      <dgm:prSet presAssocID="{F4E420D7-B7F9-4D2F-8289-A2C99D6E7245}" presName="FourNodes_1_text" presStyleLbl="node1" presStyleIdx="3" presStyleCnt="4">
        <dgm:presLayoutVars>
          <dgm:bulletEnabled val="1"/>
        </dgm:presLayoutVars>
      </dgm:prSet>
      <dgm:spPr/>
    </dgm:pt>
    <dgm:pt modelId="{07E51860-5799-4F4F-90AB-1294610C7B2B}" type="pres">
      <dgm:prSet presAssocID="{F4E420D7-B7F9-4D2F-8289-A2C99D6E7245}" presName="FourNodes_2_text" presStyleLbl="node1" presStyleIdx="3" presStyleCnt="4">
        <dgm:presLayoutVars>
          <dgm:bulletEnabled val="1"/>
        </dgm:presLayoutVars>
      </dgm:prSet>
      <dgm:spPr/>
    </dgm:pt>
    <dgm:pt modelId="{84A29AF6-DC0F-4295-BC43-D48722BB91B5}" type="pres">
      <dgm:prSet presAssocID="{F4E420D7-B7F9-4D2F-8289-A2C99D6E7245}" presName="FourNodes_3_text" presStyleLbl="node1" presStyleIdx="3" presStyleCnt="4">
        <dgm:presLayoutVars>
          <dgm:bulletEnabled val="1"/>
        </dgm:presLayoutVars>
      </dgm:prSet>
      <dgm:spPr/>
    </dgm:pt>
    <dgm:pt modelId="{7079BE92-7002-433D-BED4-49396053FAF1}" type="pres">
      <dgm:prSet presAssocID="{F4E420D7-B7F9-4D2F-8289-A2C99D6E724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EEDBF39-C48D-4527-82FC-E8065F692CBE}" type="presOf" srcId="{5D92A9E8-2265-4096-9228-5713D90AE8A3}" destId="{B608441A-EBCA-4FD0-9634-03501C7F7893}" srcOrd="0" destOrd="0" presId="urn:microsoft.com/office/officeart/2005/8/layout/vProcess5"/>
    <dgm:cxn modelId="{179FDF62-0DBA-46FE-9468-E681B97BF181}" type="presOf" srcId="{2B35E92C-04E6-49DB-A64E-8E75C8DA49DC}" destId="{10AAC3E5-DDFA-4BE4-887B-1791D7AEB71D}" srcOrd="1" destOrd="0" presId="urn:microsoft.com/office/officeart/2005/8/layout/vProcess5"/>
    <dgm:cxn modelId="{B68D1567-B3D3-4EF5-B5C2-0950C669B2DA}" type="presOf" srcId="{916E485A-7B6B-4C34-9703-0911F115B1A3}" destId="{7079BE92-7002-433D-BED4-49396053FAF1}" srcOrd="1" destOrd="0" presId="urn:microsoft.com/office/officeart/2005/8/layout/vProcess5"/>
    <dgm:cxn modelId="{C91BCA49-1D8D-4414-AABF-293A7426D55B}" type="presOf" srcId="{4082FDE2-C6BD-48D4-A694-375F44EB27A5}" destId="{84A29AF6-DC0F-4295-BC43-D48722BB91B5}" srcOrd="1" destOrd="0" presId="urn:microsoft.com/office/officeart/2005/8/layout/vProcess5"/>
    <dgm:cxn modelId="{9CB62B4C-FCC5-4A20-816A-24402193DEF5}" type="presOf" srcId="{F2E89BC9-DA3D-4F11-A2F2-1B7707C7BDEB}" destId="{DDA6DC63-CA0A-42E9-9C9F-EB5CAE17808E}" srcOrd="0" destOrd="0" presId="urn:microsoft.com/office/officeart/2005/8/layout/vProcess5"/>
    <dgm:cxn modelId="{8F52E96D-4C56-4375-B796-D1D234FD1407}" type="presOf" srcId="{F5947971-024A-4917-942E-93E77E7B471D}" destId="{701A79FD-F864-490A-AABF-5275215CA7E8}" srcOrd="0" destOrd="0" presId="urn:microsoft.com/office/officeart/2005/8/layout/vProcess5"/>
    <dgm:cxn modelId="{E6D53A50-9074-49C9-A37A-0D52D5B5EDA8}" type="presOf" srcId="{916E485A-7B6B-4C34-9703-0911F115B1A3}" destId="{16569416-6DCB-49E1-9343-F42E9171AD0A}" srcOrd="0" destOrd="0" presId="urn:microsoft.com/office/officeart/2005/8/layout/vProcess5"/>
    <dgm:cxn modelId="{B1B5AB77-880E-4556-B9A2-B8D6C68794BC}" srcId="{F4E420D7-B7F9-4D2F-8289-A2C99D6E7245}" destId="{4082FDE2-C6BD-48D4-A694-375F44EB27A5}" srcOrd="2" destOrd="0" parTransId="{700E602E-CDFF-4C89-9F75-DD03639B5674}" sibTransId="{F2E89BC9-DA3D-4F11-A2F2-1B7707C7BDEB}"/>
    <dgm:cxn modelId="{A7E3DA7C-F134-46F9-9B62-FB7CCF18F85B}" srcId="{F4E420D7-B7F9-4D2F-8289-A2C99D6E7245}" destId="{A88BD759-3805-4FE9-B570-8DED5DD10E44}" srcOrd="1" destOrd="0" parTransId="{69665123-4369-49A6-8798-A04B395953CB}" sibTransId="{F5947971-024A-4917-942E-93E77E7B471D}"/>
    <dgm:cxn modelId="{5D7DF887-3095-4DFB-BB4E-780CF48358F0}" type="presOf" srcId="{2B35E92C-04E6-49DB-A64E-8E75C8DA49DC}" destId="{E1610992-5C27-42B2-94B7-5E621BFB3E0C}" srcOrd="0" destOrd="0" presId="urn:microsoft.com/office/officeart/2005/8/layout/vProcess5"/>
    <dgm:cxn modelId="{A7290B91-A1C3-4E92-9558-84D84FBC9817}" type="presOf" srcId="{A88BD759-3805-4FE9-B570-8DED5DD10E44}" destId="{07E51860-5799-4F4F-90AB-1294610C7B2B}" srcOrd="1" destOrd="0" presId="urn:microsoft.com/office/officeart/2005/8/layout/vProcess5"/>
    <dgm:cxn modelId="{8EB2DA92-A3C3-47D0-A245-2CED4FB41844}" srcId="{F4E420D7-B7F9-4D2F-8289-A2C99D6E7245}" destId="{2B35E92C-04E6-49DB-A64E-8E75C8DA49DC}" srcOrd="0" destOrd="0" parTransId="{41C4C13E-68F6-4D78-8BCB-BDA05EBB4CCA}" sibTransId="{5D92A9E8-2265-4096-9228-5713D90AE8A3}"/>
    <dgm:cxn modelId="{9CE526A8-D585-4905-BCB2-1ABD3A3EE226}" srcId="{F4E420D7-B7F9-4D2F-8289-A2C99D6E7245}" destId="{916E485A-7B6B-4C34-9703-0911F115B1A3}" srcOrd="3" destOrd="0" parTransId="{A4509E43-0772-4F9F-9BA3-443D9220739F}" sibTransId="{870C4ED6-91FC-4A6C-A608-C6E78BE6ED75}"/>
    <dgm:cxn modelId="{AA1E92CE-1807-46D2-BC49-AC8CA6D17975}" type="presOf" srcId="{A88BD759-3805-4FE9-B570-8DED5DD10E44}" destId="{D7BB408D-8119-44B9-9EBA-4F8EF7440331}" srcOrd="0" destOrd="0" presId="urn:microsoft.com/office/officeart/2005/8/layout/vProcess5"/>
    <dgm:cxn modelId="{DB6512ED-5A74-46F0-84F3-A650436D5FF1}" type="presOf" srcId="{4082FDE2-C6BD-48D4-A694-375F44EB27A5}" destId="{694C00D1-F719-4511-AC6C-7ADD27037206}" srcOrd="0" destOrd="0" presId="urn:microsoft.com/office/officeart/2005/8/layout/vProcess5"/>
    <dgm:cxn modelId="{E923C0EF-C212-4C4D-82EC-F1C3A383671A}" type="presOf" srcId="{F4E420D7-B7F9-4D2F-8289-A2C99D6E7245}" destId="{39FCECF5-9F40-4EEF-9B02-24042BCB03E4}" srcOrd="0" destOrd="0" presId="urn:microsoft.com/office/officeart/2005/8/layout/vProcess5"/>
    <dgm:cxn modelId="{28B4CD09-5FFB-4730-8BDA-AF958CD94FA6}" type="presParOf" srcId="{39FCECF5-9F40-4EEF-9B02-24042BCB03E4}" destId="{97F679B7-3D70-410E-BA2A-98F294D515CC}" srcOrd="0" destOrd="0" presId="urn:microsoft.com/office/officeart/2005/8/layout/vProcess5"/>
    <dgm:cxn modelId="{C13A5536-02C0-463C-839C-29B44BCC2480}" type="presParOf" srcId="{39FCECF5-9F40-4EEF-9B02-24042BCB03E4}" destId="{E1610992-5C27-42B2-94B7-5E621BFB3E0C}" srcOrd="1" destOrd="0" presId="urn:microsoft.com/office/officeart/2005/8/layout/vProcess5"/>
    <dgm:cxn modelId="{D89ABCB7-B49E-42A9-8D3F-7901809E8C67}" type="presParOf" srcId="{39FCECF5-9F40-4EEF-9B02-24042BCB03E4}" destId="{D7BB408D-8119-44B9-9EBA-4F8EF7440331}" srcOrd="2" destOrd="0" presId="urn:microsoft.com/office/officeart/2005/8/layout/vProcess5"/>
    <dgm:cxn modelId="{4F21DBFE-9C38-443F-B310-C4D35BBFED97}" type="presParOf" srcId="{39FCECF5-9F40-4EEF-9B02-24042BCB03E4}" destId="{694C00D1-F719-4511-AC6C-7ADD27037206}" srcOrd="3" destOrd="0" presId="urn:microsoft.com/office/officeart/2005/8/layout/vProcess5"/>
    <dgm:cxn modelId="{1B54690F-F66A-48CF-8809-A01C0428B229}" type="presParOf" srcId="{39FCECF5-9F40-4EEF-9B02-24042BCB03E4}" destId="{16569416-6DCB-49E1-9343-F42E9171AD0A}" srcOrd="4" destOrd="0" presId="urn:microsoft.com/office/officeart/2005/8/layout/vProcess5"/>
    <dgm:cxn modelId="{BDD83D90-43B3-4678-9FBE-D8E860CF0876}" type="presParOf" srcId="{39FCECF5-9F40-4EEF-9B02-24042BCB03E4}" destId="{B608441A-EBCA-4FD0-9634-03501C7F7893}" srcOrd="5" destOrd="0" presId="urn:microsoft.com/office/officeart/2005/8/layout/vProcess5"/>
    <dgm:cxn modelId="{E8AEC96C-7120-422E-A0D5-7A61DD7A705A}" type="presParOf" srcId="{39FCECF5-9F40-4EEF-9B02-24042BCB03E4}" destId="{701A79FD-F864-490A-AABF-5275215CA7E8}" srcOrd="6" destOrd="0" presId="urn:microsoft.com/office/officeart/2005/8/layout/vProcess5"/>
    <dgm:cxn modelId="{32761A08-E23E-4E58-BAAA-44CC599A584A}" type="presParOf" srcId="{39FCECF5-9F40-4EEF-9B02-24042BCB03E4}" destId="{DDA6DC63-CA0A-42E9-9C9F-EB5CAE17808E}" srcOrd="7" destOrd="0" presId="urn:microsoft.com/office/officeart/2005/8/layout/vProcess5"/>
    <dgm:cxn modelId="{01581A4D-0F5D-4BC4-827A-1A7AA0607372}" type="presParOf" srcId="{39FCECF5-9F40-4EEF-9B02-24042BCB03E4}" destId="{10AAC3E5-DDFA-4BE4-887B-1791D7AEB71D}" srcOrd="8" destOrd="0" presId="urn:microsoft.com/office/officeart/2005/8/layout/vProcess5"/>
    <dgm:cxn modelId="{872F68B5-D03B-406F-8097-56140BE38AD5}" type="presParOf" srcId="{39FCECF5-9F40-4EEF-9B02-24042BCB03E4}" destId="{07E51860-5799-4F4F-90AB-1294610C7B2B}" srcOrd="9" destOrd="0" presId="urn:microsoft.com/office/officeart/2005/8/layout/vProcess5"/>
    <dgm:cxn modelId="{196FE00C-4376-4530-ABC0-AAA4535C3158}" type="presParOf" srcId="{39FCECF5-9F40-4EEF-9B02-24042BCB03E4}" destId="{84A29AF6-DC0F-4295-BC43-D48722BB91B5}" srcOrd="10" destOrd="0" presId="urn:microsoft.com/office/officeart/2005/8/layout/vProcess5"/>
    <dgm:cxn modelId="{2D0B6B12-3363-43A2-8ED2-D42853216B66}" type="presParOf" srcId="{39FCECF5-9F40-4EEF-9B02-24042BCB03E4}" destId="{7079BE92-7002-433D-BED4-49396053FAF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DFA752-B3F7-4F4F-99D0-8BF2BD65351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4F3A2C-3527-49A7-8DCB-B90FFAB24067}">
      <dgm:prSet custT="1"/>
      <dgm:spPr/>
      <dgm:t>
        <a:bodyPr/>
        <a:lstStyle/>
        <a:p>
          <a:pPr algn="ctr"/>
          <a:r>
            <a:rPr lang="en-US" sz="4400" b="1" dirty="0"/>
            <a:t>Strategic Recommendations</a:t>
          </a:r>
        </a:p>
      </dgm:t>
    </dgm:pt>
    <dgm:pt modelId="{7B224E27-A138-40CE-8216-BCC8D5174E35}" type="parTrans" cxnId="{3C5168C9-5339-4163-A31B-7497A4DFCC8B}">
      <dgm:prSet/>
      <dgm:spPr/>
      <dgm:t>
        <a:bodyPr/>
        <a:lstStyle/>
        <a:p>
          <a:endParaRPr lang="en-US"/>
        </a:p>
      </dgm:t>
    </dgm:pt>
    <dgm:pt modelId="{47EE8E4E-8FE6-4BA0-A906-A4D048C770B6}" type="sibTrans" cxnId="{3C5168C9-5339-4163-A31B-7497A4DFCC8B}">
      <dgm:prSet/>
      <dgm:spPr/>
      <dgm:t>
        <a:bodyPr/>
        <a:lstStyle/>
        <a:p>
          <a:endParaRPr lang="en-US"/>
        </a:p>
      </dgm:t>
    </dgm:pt>
    <dgm:pt modelId="{D3419315-A971-41FD-B488-4EC9A3701942}">
      <dgm:prSet/>
      <dgm:spPr/>
      <dgm:t>
        <a:bodyPr/>
        <a:lstStyle/>
        <a:p>
          <a:r>
            <a:rPr lang="en-US" dirty="0"/>
            <a:t>1) </a:t>
          </a:r>
          <a:r>
            <a:rPr lang="en-US" dirty="0">
              <a:highlight>
                <a:srgbClr val="FFFF00"/>
              </a:highlight>
            </a:rPr>
            <a:t>Tighten Underwriting</a:t>
          </a:r>
          <a:r>
            <a:rPr lang="en-US" dirty="0"/>
            <a:t>: Adjust automated credit scoring models to automatically reject or require higher down payments for "Poor" credit band applicants.</a:t>
          </a:r>
        </a:p>
      </dgm:t>
    </dgm:pt>
    <dgm:pt modelId="{33EC23CB-2247-4C00-B171-9D3E450251C8}" type="parTrans" cxnId="{22C29946-5457-4E0F-9DB9-75501324AB62}">
      <dgm:prSet/>
      <dgm:spPr/>
      <dgm:t>
        <a:bodyPr/>
        <a:lstStyle/>
        <a:p>
          <a:endParaRPr lang="en-US"/>
        </a:p>
      </dgm:t>
    </dgm:pt>
    <dgm:pt modelId="{548A802D-C355-434A-9BEF-690AB15A89CD}" type="sibTrans" cxnId="{22C29946-5457-4E0F-9DB9-75501324AB62}">
      <dgm:prSet/>
      <dgm:spPr/>
      <dgm:t>
        <a:bodyPr/>
        <a:lstStyle/>
        <a:p>
          <a:endParaRPr lang="en-US"/>
        </a:p>
      </dgm:t>
    </dgm:pt>
    <dgm:pt modelId="{0EFF1791-137F-45A9-8A88-70505C9779F7}">
      <dgm:prSet/>
      <dgm:spPr/>
      <dgm:t>
        <a:bodyPr/>
        <a:lstStyle/>
        <a:p>
          <a:r>
            <a:rPr lang="en-US" dirty="0"/>
            <a:t>2) </a:t>
          </a:r>
          <a:r>
            <a:rPr lang="en-US" dirty="0">
              <a:highlight>
                <a:srgbClr val="FFFF00"/>
              </a:highlight>
            </a:rPr>
            <a:t>Shift Customer Acquisition</a:t>
          </a:r>
          <a:r>
            <a:rPr lang="en-US" dirty="0"/>
            <a:t>: Redirect marketing budgets toward mature, high-income customer segments (ages 36–60) to improve overall portfolio quality.</a:t>
          </a:r>
        </a:p>
      </dgm:t>
    </dgm:pt>
    <dgm:pt modelId="{B8200EC3-1F0E-45BD-96F7-EF907AF40FAA}" type="parTrans" cxnId="{FED856DD-6EC2-4202-9F11-3AA9B4B8EC32}">
      <dgm:prSet/>
      <dgm:spPr/>
      <dgm:t>
        <a:bodyPr/>
        <a:lstStyle/>
        <a:p>
          <a:endParaRPr lang="en-US"/>
        </a:p>
      </dgm:t>
    </dgm:pt>
    <dgm:pt modelId="{9604C29F-80FE-423F-9863-B033711E9C3A}" type="sibTrans" cxnId="{FED856DD-6EC2-4202-9F11-3AA9B4B8EC32}">
      <dgm:prSet/>
      <dgm:spPr/>
      <dgm:t>
        <a:bodyPr/>
        <a:lstStyle/>
        <a:p>
          <a:endParaRPr lang="en-US"/>
        </a:p>
      </dgm:t>
    </dgm:pt>
    <dgm:pt modelId="{BB454A2F-9069-4380-A212-09EF492A609B}">
      <dgm:prSet/>
      <dgm:spPr/>
      <dgm:t>
        <a:bodyPr/>
        <a:lstStyle/>
        <a:p>
          <a:r>
            <a:rPr lang="en-US" dirty="0"/>
            <a:t>3) </a:t>
          </a:r>
          <a:r>
            <a:rPr lang="en-US" dirty="0">
              <a:highlight>
                <a:srgbClr val="FFFF00"/>
              </a:highlight>
            </a:rPr>
            <a:t>Automate Collections &amp; Early Pay Incentives</a:t>
          </a:r>
          <a:r>
            <a:rPr lang="en-US" dirty="0"/>
            <a:t>: Implement auto-debit rules and small discount incentives to reduce the 88.22% delayed repayment rate.</a:t>
          </a:r>
        </a:p>
      </dgm:t>
    </dgm:pt>
    <dgm:pt modelId="{0C02ACD4-FB08-4485-825C-C47539B0C3DB}" type="parTrans" cxnId="{CC85F4FB-047D-42E5-9140-79E6F9851BAE}">
      <dgm:prSet/>
      <dgm:spPr/>
      <dgm:t>
        <a:bodyPr/>
        <a:lstStyle/>
        <a:p>
          <a:endParaRPr lang="en-US"/>
        </a:p>
      </dgm:t>
    </dgm:pt>
    <dgm:pt modelId="{6C58C8C2-B65D-4329-85E9-F698126D9692}" type="sibTrans" cxnId="{CC85F4FB-047D-42E5-9140-79E6F9851BAE}">
      <dgm:prSet/>
      <dgm:spPr/>
      <dgm:t>
        <a:bodyPr/>
        <a:lstStyle/>
        <a:p>
          <a:endParaRPr lang="en-US"/>
        </a:p>
      </dgm:t>
    </dgm:pt>
    <dgm:pt modelId="{5721F0BC-1EFC-442A-9946-94BE2B6FB7D2}" type="pres">
      <dgm:prSet presAssocID="{AEDFA752-B3F7-4F4F-99D0-8BF2BD653518}" presName="outerComposite" presStyleCnt="0">
        <dgm:presLayoutVars>
          <dgm:chMax val="5"/>
          <dgm:dir/>
          <dgm:resizeHandles val="exact"/>
        </dgm:presLayoutVars>
      </dgm:prSet>
      <dgm:spPr/>
    </dgm:pt>
    <dgm:pt modelId="{A2E73F9A-3635-453A-A89E-D85B9CFBDE18}" type="pres">
      <dgm:prSet presAssocID="{AEDFA752-B3F7-4F4F-99D0-8BF2BD653518}" presName="dummyMaxCanvas" presStyleCnt="0">
        <dgm:presLayoutVars/>
      </dgm:prSet>
      <dgm:spPr/>
    </dgm:pt>
    <dgm:pt modelId="{1EC90ECB-D625-44DC-85A4-014D5E4EE8E0}" type="pres">
      <dgm:prSet presAssocID="{AEDFA752-B3F7-4F4F-99D0-8BF2BD653518}" presName="FourNodes_1" presStyleLbl="node1" presStyleIdx="0" presStyleCnt="4">
        <dgm:presLayoutVars>
          <dgm:bulletEnabled val="1"/>
        </dgm:presLayoutVars>
      </dgm:prSet>
      <dgm:spPr/>
    </dgm:pt>
    <dgm:pt modelId="{DB061F44-E7B4-4BD9-BF1B-5DCFFB5613E0}" type="pres">
      <dgm:prSet presAssocID="{AEDFA752-B3F7-4F4F-99D0-8BF2BD653518}" presName="FourNodes_2" presStyleLbl="node1" presStyleIdx="1" presStyleCnt="4" custLinFactNeighborX="193" custLinFactNeighborY="1309">
        <dgm:presLayoutVars>
          <dgm:bulletEnabled val="1"/>
        </dgm:presLayoutVars>
      </dgm:prSet>
      <dgm:spPr/>
    </dgm:pt>
    <dgm:pt modelId="{3ECC5EB2-8237-42C9-A7E6-59D8B2A724D0}" type="pres">
      <dgm:prSet presAssocID="{AEDFA752-B3F7-4F4F-99D0-8BF2BD653518}" presName="FourNodes_3" presStyleLbl="node1" presStyleIdx="2" presStyleCnt="4">
        <dgm:presLayoutVars>
          <dgm:bulletEnabled val="1"/>
        </dgm:presLayoutVars>
      </dgm:prSet>
      <dgm:spPr/>
    </dgm:pt>
    <dgm:pt modelId="{1C24B4B4-F38B-4CC7-A566-DA7C625786A8}" type="pres">
      <dgm:prSet presAssocID="{AEDFA752-B3F7-4F4F-99D0-8BF2BD653518}" presName="FourNodes_4" presStyleLbl="node1" presStyleIdx="3" presStyleCnt="4">
        <dgm:presLayoutVars>
          <dgm:bulletEnabled val="1"/>
        </dgm:presLayoutVars>
      </dgm:prSet>
      <dgm:spPr/>
    </dgm:pt>
    <dgm:pt modelId="{54CFCD00-B4F1-497B-AAD6-C61C14F77A22}" type="pres">
      <dgm:prSet presAssocID="{AEDFA752-B3F7-4F4F-99D0-8BF2BD653518}" presName="FourConn_1-2" presStyleLbl="fgAccFollowNode1" presStyleIdx="0" presStyleCnt="3">
        <dgm:presLayoutVars>
          <dgm:bulletEnabled val="1"/>
        </dgm:presLayoutVars>
      </dgm:prSet>
      <dgm:spPr/>
    </dgm:pt>
    <dgm:pt modelId="{EC434CB9-B0D1-4D89-B15F-E77BCAF05A50}" type="pres">
      <dgm:prSet presAssocID="{AEDFA752-B3F7-4F4F-99D0-8BF2BD653518}" presName="FourConn_2-3" presStyleLbl="fgAccFollowNode1" presStyleIdx="1" presStyleCnt="3">
        <dgm:presLayoutVars>
          <dgm:bulletEnabled val="1"/>
        </dgm:presLayoutVars>
      </dgm:prSet>
      <dgm:spPr/>
    </dgm:pt>
    <dgm:pt modelId="{613631D5-AABB-4C84-A140-F5A0B9A9EE11}" type="pres">
      <dgm:prSet presAssocID="{AEDFA752-B3F7-4F4F-99D0-8BF2BD653518}" presName="FourConn_3-4" presStyleLbl="fgAccFollowNode1" presStyleIdx="2" presStyleCnt="3">
        <dgm:presLayoutVars>
          <dgm:bulletEnabled val="1"/>
        </dgm:presLayoutVars>
      </dgm:prSet>
      <dgm:spPr/>
    </dgm:pt>
    <dgm:pt modelId="{43A1C1AF-F5CC-4375-AE42-03CF6D8A353D}" type="pres">
      <dgm:prSet presAssocID="{AEDFA752-B3F7-4F4F-99D0-8BF2BD653518}" presName="FourNodes_1_text" presStyleLbl="node1" presStyleIdx="3" presStyleCnt="4">
        <dgm:presLayoutVars>
          <dgm:bulletEnabled val="1"/>
        </dgm:presLayoutVars>
      </dgm:prSet>
      <dgm:spPr/>
    </dgm:pt>
    <dgm:pt modelId="{D786CE99-6999-4268-AC09-A2A4155CB910}" type="pres">
      <dgm:prSet presAssocID="{AEDFA752-B3F7-4F4F-99D0-8BF2BD653518}" presName="FourNodes_2_text" presStyleLbl="node1" presStyleIdx="3" presStyleCnt="4">
        <dgm:presLayoutVars>
          <dgm:bulletEnabled val="1"/>
        </dgm:presLayoutVars>
      </dgm:prSet>
      <dgm:spPr/>
    </dgm:pt>
    <dgm:pt modelId="{257D505F-36F4-486C-929B-80C23713EAC1}" type="pres">
      <dgm:prSet presAssocID="{AEDFA752-B3F7-4F4F-99D0-8BF2BD653518}" presName="FourNodes_3_text" presStyleLbl="node1" presStyleIdx="3" presStyleCnt="4">
        <dgm:presLayoutVars>
          <dgm:bulletEnabled val="1"/>
        </dgm:presLayoutVars>
      </dgm:prSet>
      <dgm:spPr/>
    </dgm:pt>
    <dgm:pt modelId="{CDB5F150-EF65-4660-9023-1472FECBBD03}" type="pres">
      <dgm:prSet presAssocID="{AEDFA752-B3F7-4F4F-99D0-8BF2BD65351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D1AAC11-2E21-4EA1-B1F3-1F1889DC025F}" type="presOf" srcId="{BB454A2F-9069-4380-A212-09EF492A609B}" destId="{CDB5F150-EF65-4660-9023-1472FECBBD03}" srcOrd="1" destOrd="0" presId="urn:microsoft.com/office/officeart/2005/8/layout/vProcess5"/>
    <dgm:cxn modelId="{4B4DE11F-88FD-4044-A84B-554BAFBBBC2F}" type="presOf" srcId="{E64F3A2C-3527-49A7-8DCB-B90FFAB24067}" destId="{1EC90ECB-D625-44DC-85A4-014D5E4EE8E0}" srcOrd="0" destOrd="0" presId="urn:microsoft.com/office/officeart/2005/8/layout/vProcess5"/>
    <dgm:cxn modelId="{BCEE7D3C-DA35-441B-8EEE-3E15DD661E27}" type="presOf" srcId="{0EFF1791-137F-45A9-8A88-70505C9779F7}" destId="{3ECC5EB2-8237-42C9-A7E6-59D8B2A724D0}" srcOrd="0" destOrd="0" presId="urn:microsoft.com/office/officeart/2005/8/layout/vProcess5"/>
    <dgm:cxn modelId="{9953755B-BF48-452F-A3A2-A83EB7A1143C}" type="presOf" srcId="{D3419315-A971-41FD-B488-4EC9A3701942}" destId="{DB061F44-E7B4-4BD9-BF1B-5DCFFB5613E0}" srcOrd="0" destOrd="0" presId="urn:microsoft.com/office/officeart/2005/8/layout/vProcess5"/>
    <dgm:cxn modelId="{22C29946-5457-4E0F-9DB9-75501324AB62}" srcId="{AEDFA752-B3F7-4F4F-99D0-8BF2BD653518}" destId="{D3419315-A971-41FD-B488-4EC9A3701942}" srcOrd="1" destOrd="0" parTransId="{33EC23CB-2247-4C00-B171-9D3E450251C8}" sibTransId="{548A802D-C355-434A-9BEF-690AB15A89CD}"/>
    <dgm:cxn modelId="{00145B6D-66DE-4D09-98E1-1ED290D56A09}" type="presOf" srcId="{0EFF1791-137F-45A9-8A88-70505C9779F7}" destId="{257D505F-36F4-486C-929B-80C23713EAC1}" srcOrd="1" destOrd="0" presId="urn:microsoft.com/office/officeart/2005/8/layout/vProcess5"/>
    <dgm:cxn modelId="{D71DB792-F2B6-47D3-BF9B-48EA1E42AA89}" type="presOf" srcId="{BB454A2F-9069-4380-A212-09EF492A609B}" destId="{1C24B4B4-F38B-4CC7-A566-DA7C625786A8}" srcOrd="0" destOrd="0" presId="urn:microsoft.com/office/officeart/2005/8/layout/vProcess5"/>
    <dgm:cxn modelId="{40751DA3-0A24-4346-B46C-349FA4E39608}" type="presOf" srcId="{E64F3A2C-3527-49A7-8DCB-B90FFAB24067}" destId="{43A1C1AF-F5CC-4375-AE42-03CF6D8A353D}" srcOrd="1" destOrd="0" presId="urn:microsoft.com/office/officeart/2005/8/layout/vProcess5"/>
    <dgm:cxn modelId="{8A0023A7-B8FC-4623-ABDD-A35E5C0A8E5A}" type="presOf" srcId="{47EE8E4E-8FE6-4BA0-A906-A4D048C770B6}" destId="{54CFCD00-B4F1-497B-AAD6-C61C14F77A22}" srcOrd="0" destOrd="0" presId="urn:microsoft.com/office/officeart/2005/8/layout/vProcess5"/>
    <dgm:cxn modelId="{603830C0-5EF1-45D8-889B-8D62492EDB94}" type="presOf" srcId="{548A802D-C355-434A-9BEF-690AB15A89CD}" destId="{EC434CB9-B0D1-4D89-B15F-E77BCAF05A50}" srcOrd="0" destOrd="0" presId="urn:microsoft.com/office/officeart/2005/8/layout/vProcess5"/>
    <dgm:cxn modelId="{3C5168C9-5339-4163-A31B-7497A4DFCC8B}" srcId="{AEDFA752-B3F7-4F4F-99D0-8BF2BD653518}" destId="{E64F3A2C-3527-49A7-8DCB-B90FFAB24067}" srcOrd="0" destOrd="0" parTransId="{7B224E27-A138-40CE-8216-BCC8D5174E35}" sibTransId="{47EE8E4E-8FE6-4BA0-A906-A4D048C770B6}"/>
    <dgm:cxn modelId="{FED856DD-6EC2-4202-9F11-3AA9B4B8EC32}" srcId="{AEDFA752-B3F7-4F4F-99D0-8BF2BD653518}" destId="{0EFF1791-137F-45A9-8A88-70505C9779F7}" srcOrd="2" destOrd="0" parTransId="{B8200EC3-1F0E-45BD-96F7-EF907AF40FAA}" sibTransId="{9604C29F-80FE-423F-9863-B033711E9C3A}"/>
    <dgm:cxn modelId="{9217BCE0-34C3-493B-87F5-136C7C86A116}" type="presOf" srcId="{9604C29F-80FE-423F-9863-B033711E9C3A}" destId="{613631D5-AABB-4C84-A140-F5A0B9A9EE11}" srcOrd="0" destOrd="0" presId="urn:microsoft.com/office/officeart/2005/8/layout/vProcess5"/>
    <dgm:cxn modelId="{4F5DEFE9-53A8-471E-8F01-89787BD3AABC}" type="presOf" srcId="{AEDFA752-B3F7-4F4F-99D0-8BF2BD653518}" destId="{5721F0BC-1EFC-442A-9946-94BE2B6FB7D2}" srcOrd="0" destOrd="0" presId="urn:microsoft.com/office/officeart/2005/8/layout/vProcess5"/>
    <dgm:cxn modelId="{E362B0F4-F882-411F-9CD8-252315B8C90B}" type="presOf" srcId="{D3419315-A971-41FD-B488-4EC9A3701942}" destId="{D786CE99-6999-4268-AC09-A2A4155CB910}" srcOrd="1" destOrd="0" presId="urn:microsoft.com/office/officeart/2005/8/layout/vProcess5"/>
    <dgm:cxn modelId="{CC85F4FB-047D-42E5-9140-79E6F9851BAE}" srcId="{AEDFA752-B3F7-4F4F-99D0-8BF2BD653518}" destId="{BB454A2F-9069-4380-A212-09EF492A609B}" srcOrd="3" destOrd="0" parTransId="{0C02ACD4-FB08-4485-825C-C47539B0C3DB}" sibTransId="{6C58C8C2-B65D-4329-85E9-F698126D9692}"/>
    <dgm:cxn modelId="{EE31A9E0-4974-4681-A8CA-47540448CD4C}" type="presParOf" srcId="{5721F0BC-1EFC-442A-9946-94BE2B6FB7D2}" destId="{A2E73F9A-3635-453A-A89E-D85B9CFBDE18}" srcOrd="0" destOrd="0" presId="urn:microsoft.com/office/officeart/2005/8/layout/vProcess5"/>
    <dgm:cxn modelId="{ED35095D-03E6-4AA9-AC95-02CECC4E0B47}" type="presParOf" srcId="{5721F0BC-1EFC-442A-9946-94BE2B6FB7D2}" destId="{1EC90ECB-D625-44DC-85A4-014D5E4EE8E0}" srcOrd="1" destOrd="0" presId="urn:microsoft.com/office/officeart/2005/8/layout/vProcess5"/>
    <dgm:cxn modelId="{29CC32C6-ADA1-4F57-A828-9A23C7F0ACC0}" type="presParOf" srcId="{5721F0BC-1EFC-442A-9946-94BE2B6FB7D2}" destId="{DB061F44-E7B4-4BD9-BF1B-5DCFFB5613E0}" srcOrd="2" destOrd="0" presId="urn:microsoft.com/office/officeart/2005/8/layout/vProcess5"/>
    <dgm:cxn modelId="{04F02FBB-3EE0-4B2E-9046-FC954CE56FBD}" type="presParOf" srcId="{5721F0BC-1EFC-442A-9946-94BE2B6FB7D2}" destId="{3ECC5EB2-8237-42C9-A7E6-59D8B2A724D0}" srcOrd="3" destOrd="0" presId="urn:microsoft.com/office/officeart/2005/8/layout/vProcess5"/>
    <dgm:cxn modelId="{CBCDBB3A-E674-4522-91D5-38B3B01E6901}" type="presParOf" srcId="{5721F0BC-1EFC-442A-9946-94BE2B6FB7D2}" destId="{1C24B4B4-F38B-4CC7-A566-DA7C625786A8}" srcOrd="4" destOrd="0" presId="urn:microsoft.com/office/officeart/2005/8/layout/vProcess5"/>
    <dgm:cxn modelId="{5FD58FEA-B1FB-4C20-99DA-0BFC2047AFE4}" type="presParOf" srcId="{5721F0BC-1EFC-442A-9946-94BE2B6FB7D2}" destId="{54CFCD00-B4F1-497B-AAD6-C61C14F77A22}" srcOrd="5" destOrd="0" presId="urn:microsoft.com/office/officeart/2005/8/layout/vProcess5"/>
    <dgm:cxn modelId="{B00F9CFB-73E5-4EB7-8724-FC81AF3F582A}" type="presParOf" srcId="{5721F0BC-1EFC-442A-9946-94BE2B6FB7D2}" destId="{EC434CB9-B0D1-4D89-B15F-E77BCAF05A50}" srcOrd="6" destOrd="0" presId="urn:microsoft.com/office/officeart/2005/8/layout/vProcess5"/>
    <dgm:cxn modelId="{FCE3B4F5-8DEA-4CE1-A7F1-4084C85AD00C}" type="presParOf" srcId="{5721F0BC-1EFC-442A-9946-94BE2B6FB7D2}" destId="{613631D5-AABB-4C84-A140-F5A0B9A9EE11}" srcOrd="7" destOrd="0" presId="urn:microsoft.com/office/officeart/2005/8/layout/vProcess5"/>
    <dgm:cxn modelId="{6F9F1317-063A-4A01-9D68-41D65AC83B94}" type="presParOf" srcId="{5721F0BC-1EFC-442A-9946-94BE2B6FB7D2}" destId="{43A1C1AF-F5CC-4375-AE42-03CF6D8A353D}" srcOrd="8" destOrd="0" presId="urn:microsoft.com/office/officeart/2005/8/layout/vProcess5"/>
    <dgm:cxn modelId="{5D37E9AC-78DC-4999-8625-E1926A38BCFD}" type="presParOf" srcId="{5721F0BC-1EFC-442A-9946-94BE2B6FB7D2}" destId="{D786CE99-6999-4268-AC09-A2A4155CB910}" srcOrd="9" destOrd="0" presId="urn:microsoft.com/office/officeart/2005/8/layout/vProcess5"/>
    <dgm:cxn modelId="{4683A83C-5817-41A9-8F0B-E8A0868063D7}" type="presParOf" srcId="{5721F0BC-1EFC-442A-9946-94BE2B6FB7D2}" destId="{257D505F-36F4-486C-929B-80C23713EAC1}" srcOrd="10" destOrd="0" presId="urn:microsoft.com/office/officeart/2005/8/layout/vProcess5"/>
    <dgm:cxn modelId="{2952EF06-2598-46D1-9F5A-DC6CCE82157C}" type="presParOf" srcId="{5721F0BC-1EFC-442A-9946-94BE2B6FB7D2}" destId="{CDB5F150-EF65-4660-9023-1472FECBBD0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10992-5C27-42B2-94B7-5E621BFB3E0C}">
      <dsp:nvSpPr>
        <dsp:cNvPr id="0" name=""/>
        <dsp:cNvSpPr/>
      </dsp:nvSpPr>
      <dsp:spPr>
        <a:xfrm>
          <a:off x="0" y="0"/>
          <a:ext cx="9875520" cy="1333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Key Insights</a:t>
          </a:r>
        </a:p>
      </dsp:txBody>
      <dsp:txXfrm>
        <a:off x="39069" y="39069"/>
        <a:ext cx="8323418" cy="1255765"/>
      </dsp:txXfrm>
    </dsp:sp>
    <dsp:sp modelId="{D7BB408D-8119-44B9-9EBA-4F8EF7440331}">
      <dsp:nvSpPr>
        <dsp:cNvPr id="0" name=""/>
        <dsp:cNvSpPr/>
      </dsp:nvSpPr>
      <dsp:spPr>
        <a:xfrm>
          <a:off x="827074" y="1576431"/>
          <a:ext cx="9875520" cy="1333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</a:t>
          </a:r>
          <a:r>
            <a:rPr lang="en-US" sz="2500" kern="1200" dirty="0">
              <a:highlight>
                <a:srgbClr val="FFFF00"/>
              </a:highlight>
            </a:rPr>
            <a:t>) Severe Risk Concentration</a:t>
          </a:r>
          <a:r>
            <a:rPr lang="en-US" sz="2500" kern="1200" dirty="0"/>
            <a:t>: The BNPL portfolio faces critical credit risk, with a 39.05% default rate, 73.2% high-risk customers, and 88.22% delayed repayments.</a:t>
          </a:r>
        </a:p>
      </dsp:txBody>
      <dsp:txXfrm>
        <a:off x="866143" y="1615500"/>
        <a:ext cx="8103269" cy="1255765"/>
      </dsp:txXfrm>
    </dsp:sp>
    <dsp:sp modelId="{694C00D1-F719-4511-AC6C-7ADD27037206}">
      <dsp:nvSpPr>
        <dsp:cNvPr id="0" name=""/>
        <dsp:cNvSpPr/>
      </dsp:nvSpPr>
      <dsp:spPr>
        <a:xfrm>
          <a:off x="1641805" y="3152862"/>
          <a:ext cx="9875520" cy="1333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2) </a:t>
          </a:r>
          <a:r>
            <a:rPr lang="en-US" sz="2500" kern="1200" dirty="0">
              <a:highlight>
                <a:srgbClr val="FFFF00"/>
              </a:highlight>
            </a:rPr>
            <a:t>Demographic Vulnerability</a:t>
          </a:r>
          <a:r>
            <a:rPr lang="en-US" sz="2500" kern="1200" dirty="0"/>
            <a:t>: Younger customers (18–25) and lower credit bands (Poor score) are the main drivers of default (46%–50% default rate) .</a:t>
          </a:r>
        </a:p>
      </dsp:txBody>
      <dsp:txXfrm>
        <a:off x="1680874" y="3191931"/>
        <a:ext cx="8115614" cy="1255765"/>
      </dsp:txXfrm>
    </dsp:sp>
    <dsp:sp modelId="{16569416-6DCB-49E1-9343-F42E9171AD0A}">
      <dsp:nvSpPr>
        <dsp:cNvPr id="0" name=""/>
        <dsp:cNvSpPr/>
      </dsp:nvSpPr>
      <dsp:spPr>
        <a:xfrm>
          <a:off x="2468879" y="4729294"/>
          <a:ext cx="9875520" cy="1333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3) </a:t>
          </a:r>
          <a:r>
            <a:rPr lang="en-US" sz="2500" kern="1200" dirty="0">
              <a:highlight>
                <a:srgbClr val="FFFF00"/>
              </a:highlight>
            </a:rPr>
            <a:t>High-Value Anchors</a:t>
          </a:r>
          <a:r>
            <a:rPr lang="en-US" sz="2500" kern="1200" dirty="0"/>
            <a:t>: The 46–60 age group delivers the highest revenue (14.5M) with the lowest risk profile (35% default rate).</a:t>
          </a:r>
        </a:p>
      </dsp:txBody>
      <dsp:txXfrm>
        <a:off x="2507948" y="4768363"/>
        <a:ext cx="8103269" cy="1255765"/>
      </dsp:txXfrm>
    </dsp:sp>
    <dsp:sp modelId="{B608441A-EBCA-4FD0-9634-03501C7F7893}">
      <dsp:nvSpPr>
        <dsp:cNvPr id="0" name=""/>
        <dsp:cNvSpPr/>
      </dsp:nvSpPr>
      <dsp:spPr>
        <a:xfrm>
          <a:off x="9008482" y="1021648"/>
          <a:ext cx="867037" cy="8670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203565" y="1021648"/>
        <a:ext cx="476871" cy="652445"/>
      </dsp:txXfrm>
    </dsp:sp>
    <dsp:sp modelId="{701A79FD-F864-490A-AABF-5275215CA7E8}">
      <dsp:nvSpPr>
        <dsp:cNvPr id="0" name=""/>
        <dsp:cNvSpPr/>
      </dsp:nvSpPr>
      <dsp:spPr>
        <a:xfrm>
          <a:off x="9835557" y="2598080"/>
          <a:ext cx="867037" cy="8670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030640" y="2598080"/>
        <a:ext cx="476871" cy="652445"/>
      </dsp:txXfrm>
    </dsp:sp>
    <dsp:sp modelId="{DDA6DC63-CA0A-42E9-9C9F-EB5CAE17808E}">
      <dsp:nvSpPr>
        <dsp:cNvPr id="0" name=""/>
        <dsp:cNvSpPr/>
      </dsp:nvSpPr>
      <dsp:spPr>
        <a:xfrm>
          <a:off x="10650287" y="4174511"/>
          <a:ext cx="867037" cy="8670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845370" y="4174511"/>
        <a:ext cx="476871" cy="652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90ECB-D625-44DC-85A4-014D5E4EE8E0}">
      <dsp:nvSpPr>
        <dsp:cNvPr id="0" name=""/>
        <dsp:cNvSpPr/>
      </dsp:nvSpPr>
      <dsp:spPr>
        <a:xfrm>
          <a:off x="0" y="0"/>
          <a:ext cx="9875520" cy="1455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/>
            <a:t>Strategic Recommendations</a:t>
          </a:r>
        </a:p>
      </dsp:txBody>
      <dsp:txXfrm>
        <a:off x="42638" y="42638"/>
        <a:ext cx="8181603" cy="1370507"/>
      </dsp:txXfrm>
    </dsp:sp>
    <dsp:sp modelId="{DB061F44-E7B4-4BD9-BF1B-5DCFFB5613E0}">
      <dsp:nvSpPr>
        <dsp:cNvPr id="0" name=""/>
        <dsp:cNvSpPr/>
      </dsp:nvSpPr>
      <dsp:spPr>
        <a:xfrm>
          <a:off x="846134" y="1739527"/>
          <a:ext cx="9875520" cy="1455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1) </a:t>
          </a:r>
          <a:r>
            <a:rPr lang="en-US" sz="2500" kern="1200" dirty="0">
              <a:highlight>
                <a:srgbClr val="FFFF00"/>
              </a:highlight>
            </a:rPr>
            <a:t>Tighten Underwriting</a:t>
          </a:r>
          <a:r>
            <a:rPr lang="en-US" sz="2500" kern="1200" dirty="0"/>
            <a:t>: Adjust automated credit scoring models to automatically reject or require higher down payments for "Poor" credit band applicants.</a:t>
          </a:r>
        </a:p>
      </dsp:txBody>
      <dsp:txXfrm>
        <a:off x="888772" y="1782165"/>
        <a:ext cx="8016910" cy="1370507"/>
      </dsp:txXfrm>
    </dsp:sp>
    <dsp:sp modelId="{3ECC5EB2-8237-42C9-A7E6-59D8B2A724D0}">
      <dsp:nvSpPr>
        <dsp:cNvPr id="0" name=""/>
        <dsp:cNvSpPr/>
      </dsp:nvSpPr>
      <dsp:spPr>
        <a:xfrm>
          <a:off x="1641805" y="3440941"/>
          <a:ext cx="9875520" cy="1455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2) </a:t>
          </a:r>
          <a:r>
            <a:rPr lang="en-US" sz="2500" kern="1200" dirty="0">
              <a:highlight>
                <a:srgbClr val="FFFF00"/>
              </a:highlight>
            </a:rPr>
            <a:t>Shift Customer Acquisition</a:t>
          </a:r>
          <a:r>
            <a:rPr lang="en-US" sz="2500" kern="1200" dirty="0"/>
            <a:t>: Redirect marketing budgets toward mature, high-income customer segments (ages 36–60) to improve overall portfolio quality.</a:t>
          </a:r>
        </a:p>
      </dsp:txBody>
      <dsp:txXfrm>
        <a:off x="1684443" y="3483579"/>
        <a:ext cx="8029254" cy="1370507"/>
      </dsp:txXfrm>
    </dsp:sp>
    <dsp:sp modelId="{1C24B4B4-F38B-4CC7-A566-DA7C625786A8}">
      <dsp:nvSpPr>
        <dsp:cNvPr id="0" name=""/>
        <dsp:cNvSpPr/>
      </dsp:nvSpPr>
      <dsp:spPr>
        <a:xfrm>
          <a:off x="2468879" y="5161412"/>
          <a:ext cx="9875520" cy="1455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3) </a:t>
          </a:r>
          <a:r>
            <a:rPr lang="en-US" sz="2500" kern="1200" dirty="0">
              <a:highlight>
                <a:srgbClr val="FFFF00"/>
              </a:highlight>
            </a:rPr>
            <a:t>Automate Collections &amp; Early Pay Incentives</a:t>
          </a:r>
          <a:r>
            <a:rPr lang="en-US" sz="2500" kern="1200" dirty="0"/>
            <a:t>: Implement auto-debit rules and small discount incentives to reduce the 88.22% delayed repayment rate.</a:t>
          </a:r>
        </a:p>
      </dsp:txBody>
      <dsp:txXfrm>
        <a:off x="2511517" y="5204050"/>
        <a:ext cx="8016910" cy="1370507"/>
      </dsp:txXfrm>
    </dsp:sp>
    <dsp:sp modelId="{54CFCD00-B4F1-497B-AAD6-C61C14F77A22}">
      <dsp:nvSpPr>
        <dsp:cNvPr id="0" name=""/>
        <dsp:cNvSpPr/>
      </dsp:nvSpPr>
      <dsp:spPr>
        <a:xfrm>
          <a:off x="8929260" y="1114997"/>
          <a:ext cx="946259" cy="946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142168" y="1114997"/>
        <a:ext cx="520443" cy="712060"/>
      </dsp:txXfrm>
    </dsp:sp>
    <dsp:sp modelId="{EC434CB9-B0D1-4D89-B15F-E77BCAF05A50}">
      <dsp:nvSpPr>
        <dsp:cNvPr id="0" name=""/>
        <dsp:cNvSpPr/>
      </dsp:nvSpPr>
      <dsp:spPr>
        <a:xfrm>
          <a:off x="9756335" y="2835468"/>
          <a:ext cx="946259" cy="946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969243" y="2835468"/>
        <a:ext cx="520443" cy="712060"/>
      </dsp:txXfrm>
    </dsp:sp>
    <dsp:sp modelId="{613631D5-AABB-4C84-A140-F5A0B9A9EE11}">
      <dsp:nvSpPr>
        <dsp:cNvPr id="0" name=""/>
        <dsp:cNvSpPr/>
      </dsp:nvSpPr>
      <dsp:spPr>
        <a:xfrm>
          <a:off x="10571066" y="4555939"/>
          <a:ext cx="946259" cy="94625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783974" y="4555939"/>
        <a:ext cx="520443" cy="712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AC4F-D59F-2B66-11F3-03E88027B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FDD95-FCAB-C964-FBB0-763B9DA1F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38EBE-FAE0-F970-1C1A-BDA1E653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E8AB6-DFF7-CAC3-B921-F25FAE4D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FC46C-FFB2-CBCB-A74A-CBCC819E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1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87A0-2390-CB1C-F6EC-76811DD5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44C9B-F782-9B16-DDFB-320784F3F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AF27-B4BD-6B31-5DB9-D31C6D19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0BB59-0BDE-A691-5308-575C39B0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7D9C6-8B43-1366-4706-984D01AA9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B79C-8C7C-D814-655D-1BF36E549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6853B-3743-412D-818F-2AA558306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7FB53-0CEB-4203-CB6D-2F610EFB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5FCF8-DC9D-9BE9-470E-AC6C047B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136D9-C6E7-37B1-DD4C-8623FEE0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3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405C-F9BE-5AC3-0422-1A1161B0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84DD-5865-65A9-3855-6DD22FC2D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91B6C-ED4D-33B2-9A30-C71A8062E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AE05C-4E72-8117-6460-B2C854B1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0C4EB-0B56-B9BF-BBB4-096519B5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1EBD7-0BFA-DD4B-21D4-61084C19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B1DB-135C-2C4E-9B8F-E46B8A0F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BD2-C21F-815C-F3CA-5A667734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6FFBB-B344-FBB0-7F92-BA2D66FC4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5B3EF-5D29-D7C9-572C-9AFE918B8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CCF9B5-F476-7024-5F28-105696D6A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D03702-D6F7-EE0B-2E65-A321E2FC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AC2DF-E804-F230-0AB4-28AB097D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9EC0E1-8A04-093D-4A1D-967BD1C6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5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EC4F-835A-FACB-0E13-F5648B55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ABC6F-35B0-0041-FF2D-A0B4409B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20ED6-CE63-F1C0-42E5-6A769C52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CA161-AD08-0580-C156-85A4DC51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2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A58EC-8740-1E09-6BC0-92DF968B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DE165-7E81-8BA8-C6C0-2A1734DFF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CBD5-521D-B2DE-F57D-1CFAB630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62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69BD-F9AA-67C3-FF48-4373FAE4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745B9-E9A8-4B1A-0CDA-C98CE45BF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78326-12AA-DBFF-566B-6559B1A1B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6E972-64CC-8CF0-7186-E24469D8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81502-4376-BCDA-5F3D-729743C36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B6206-689C-075F-32F9-D28C0654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7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6B9E-B3C9-086B-8F1A-0BCD38E3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45EB8-7796-BBEB-4EA4-1CD3688E2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697CD-1C01-DF43-5A8C-9E5C2E877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11DD6-5381-F35B-6E53-CD16C0AD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971C5-BFBF-7CFD-DF2D-7CD5F215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219C8-4AEB-2C24-F41D-24E4535D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2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B374-C602-7291-BDBD-2656BEAF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16CD7-327D-463E-A283-BCB69FB45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A63C8-3956-9BD9-3626-C0CA9120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27BD2-C4CA-53EF-F810-847C02F54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2032-5FE9-2558-DD56-9C2DED3FA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6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254F3-500B-14D5-7825-CB3B8034C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5A32B-773B-BFED-4036-4BABB464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6C07E-F393-630C-818E-B4357EDD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6BA3F-32F3-AB8F-05B4-F5196095E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6292-DC45-B9ED-FA1B-08A1DB9C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2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18674-40AC-8F52-01A1-529EFC4A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B5FE3-DC9A-D783-B0A4-92AE9D848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DA36B-7FC2-3E32-D3DE-33567A09A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C4FF38-7E64-449D-8E97-8833C4808AA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003BD-C825-F567-A095-A0DC70986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E1863-768C-941A-F32E-CFEE2624B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98708-1018-47F0-8C70-8C50F0DC4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nextra.com/blogposting/27693/bnpl-market-in-uzbekistan-trends-challenges-and-prospec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70CB-15DA-28BC-8045-F2D3F35AA1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2A69E-EED5-9AF4-C91B-0635E77C7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020" y="5142401"/>
            <a:ext cx="9144000" cy="1482293"/>
          </a:xfrm>
        </p:spPr>
        <p:txBody>
          <a:bodyPr>
            <a:normAutofit fontScale="92500"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BNPL Credit Risk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2CDA7-1F78-7BBE-2759-247FBC305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286593" cy="491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5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6C8136-5A34-A5F6-5543-C94F0795F845}"/>
              </a:ext>
            </a:extLst>
          </p:cNvPr>
          <p:cNvSpPr txBox="1"/>
          <p:nvPr/>
        </p:nvSpPr>
        <p:spPr>
          <a:xfrm>
            <a:off x="266700" y="52266"/>
            <a:ext cx="1165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</a:rPr>
              <a:t>What is the overall portfolio health in terms of repayment and default?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F5A693-B515-52F3-C12C-1C3CC8C106B3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A5A7CF-5CEA-56F3-3D0C-2209AD4F6161}"/>
              </a:ext>
            </a:extLst>
          </p:cNvPr>
          <p:cNvSpPr/>
          <p:nvPr/>
        </p:nvSpPr>
        <p:spPr>
          <a:xfrm>
            <a:off x="142875" y="1852760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 </a:t>
            </a:r>
            <a:r>
              <a:rPr lang="en-US" sz="2000" b="1" dirty="0"/>
              <a:t>The default rate sits at a critical high of 39.05% (4.04K defaulted customers), with only 11.78% paying on time. Furthermore, 88.22% of customers experience delayed repayments, representing 36.38M out of 41.17M total purchase volume.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733081-F90F-48C7-A645-9019BE52E719}"/>
              </a:ext>
            </a:extLst>
          </p:cNvPr>
          <p:cNvSpPr/>
          <p:nvPr/>
        </p:nvSpPr>
        <p:spPr>
          <a:xfrm>
            <a:off x="142875" y="4305399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000" b="1" dirty="0"/>
              <a:t>Immediately tighten credit approval standards and revise collection/reminder workflows prior to due dates to convert delayed payments into on-time settlements.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A1E39-1B6D-60C0-FFE5-8C4B65DFB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49" y="1571624"/>
            <a:ext cx="5838825" cy="2714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849A6E-A5F2-E673-54C9-49DBD389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5" y="4305398"/>
            <a:ext cx="2667000" cy="22097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A36F80-2CAF-5239-1989-C11E6EFBD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49" y="4305398"/>
            <a:ext cx="3133726" cy="220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62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57207-0E7E-0C4F-A5E6-8F43BBE00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07E42-03C7-5AF4-219B-87BF75BB7B1D}"/>
              </a:ext>
            </a:extLst>
          </p:cNvPr>
          <p:cNvSpPr txBox="1"/>
          <p:nvPr/>
        </p:nvSpPr>
        <p:spPr>
          <a:xfrm>
            <a:off x="266700" y="133885"/>
            <a:ext cx="1165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/>
                </a:solidFill>
              </a:rPr>
              <a:t>How does customer age correlate with default risk?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D9595-DC77-AF68-2BE8-D5C49ED29FF7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F7BC55-763B-6DE4-B4F4-D8D8AD2A0412}"/>
              </a:ext>
            </a:extLst>
          </p:cNvPr>
          <p:cNvSpPr/>
          <p:nvPr/>
        </p:nvSpPr>
        <p:spPr>
          <a:xfrm>
            <a:off x="142875" y="1852760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dirty="0"/>
              <a:t>Default rates decline steadily as age increases: the </a:t>
            </a:r>
            <a:r>
              <a:rPr lang="en-US" sz="2400" b="1" dirty="0"/>
              <a:t>18–25 age group</a:t>
            </a:r>
            <a:r>
              <a:rPr lang="en-US" sz="2400" dirty="0"/>
              <a:t> has the highest default rate (</a:t>
            </a:r>
            <a:r>
              <a:rPr lang="en-US" sz="2400" b="1" dirty="0"/>
              <a:t>46%</a:t>
            </a:r>
            <a:r>
              <a:rPr lang="en-US" sz="2400" dirty="0"/>
              <a:t>) , whereas the </a:t>
            </a:r>
            <a:r>
              <a:rPr lang="en-US" sz="2400" b="1" dirty="0"/>
              <a:t>46–60 age group</a:t>
            </a:r>
            <a:r>
              <a:rPr lang="en-US" sz="2400" dirty="0"/>
              <a:t> exhibits the lowest (</a:t>
            </a:r>
            <a:r>
              <a:rPr lang="en-US" sz="2400" b="1" dirty="0"/>
              <a:t>35%</a:t>
            </a:r>
            <a:r>
              <a:rPr lang="en-US" sz="2400" dirty="0"/>
              <a:t>) .</a:t>
            </a:r>
            <a:endParaRPr lang="en-US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51330B-71E7-6BCC-547A-E7BADD904DD1}"/>
              </a:ext>
            </a:extLst>
          </p:cNvPr>
          <p:cNvSpPr/>
          <p:nvPr/>
        </p:nvSpPr>
        <p:spPr>
          <a:xfrm>
            <a:off x="142875" y="4305399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000" b="1" dirty="0"/>
              <a:t>Implement stricter credit limits and mandatory identity/income verification steps for younger applicants (18–25), while raising credit lines for mature demographics (46–60</a:t>
            </a:r>
            <a:r>
              <a:rPr lang="en-US" sz="2000" dirty="0"/>
              <a:t>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335A3-0C8E-91D9-4C40-BCD6E050B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567011"/>
            <a:ext cx="581977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4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1764F-E1AB-25B9-D8FA-49997AFE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851064-849D-C14D-42C4-ACC9400C8BB5}"/>
              </a:ext>
            </a:extLst>
          </p:cNvPr>
          <p:cNvSpPr txBox="1"/>
          <p:nvPr/>
        </p:nvSpPr>
        <p:spPr>
          <a:xfrm>
            <a:off x="266700" y="98142"/>
            <a:ext cx="1165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/>
                </a:solidFill>
              </a:rPr>
              <a:t> Which credit score bands present the highest operational risk?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26DBF8-E08C-C5FF-1577-F9AB3814CCBC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895430-FBA0-6BA1-7F6C-B9FE175BD87F}"/>
              </a:ext>
            </a:extLst>
          </p:cNvPr>
          <p:cNvSpPr/>
          <p:nvPr/>
        </p:nvSpPr>
        <p:spPr>
          <a:xfrm>
            <a:off x="142875" y="1852760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dirty="0"/>
              <a:t>Customers in the </a:t>
            </a:r>
            <a:r>
              <a:rPr lang="en-US" sz="2400" b="1" dirty="0"/>
              <a:t>Poor</a:t>
            </a:r>
            <a:r>
              <a:rPr lang="en-US" sz="2400" dirty="0"/>
              <a:t> credit score band drive a massive </a:t>
            </a:r>
            <a:r>
              <a:rPr lang="en-US" sz="2400" b="1" dirty="0"/>
              <a:t>50%</a:t>
            </a:r>
            <a:r>
              <a:rPr lang="en-US" sz="2400" dirty="0"/>
              <a:t> default rate (</a:t>
            </a:r>
            <a:r>
              <a:rPr lang="en-US" sz="2400" b="1" dirty="0"/>
              <a:t>0.50</a:t>
            </a:r>
            <a:r>
              <a:rPr lang="en-US" sz="2400" dirty="0"/>
              <a:t>), compared to just </a:t>
            </a:r>
            <a:r>
              <a:rPr lang="en-US" sz="2400" b="1" dirty="0"/>
              <a:t>3%</a:t>
            </a:r>
            <a:r>
              <a:rPr lang="en-US" sz="2400" dirty="0"/>
              <a:t> (</a:t>
            </a:r>
            <a:r>
              <a:rPr lang="en-US" sz="2400" b="1" dirty="0"/>
              <a:t>0.03</a:t>
            </a:r>
            <a:r>
              <a:rPr lang="en-US" sz="2400" dirty="0"/>
              <a:t>) in the </a:t>
            </a:r>
            <a:r>
              <a:rPr lang="en-US" sz="2400" b="1" dirty="0"/>
              <a:t>Excellent</a:t>
            </a:r>
            <a:r>
              <a:rPr lang="en-US" sz="2400" dirty="0"/>
              <a:t> band.</a:t>
            </a:r>
            <a:endParaRPr lang="en-US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38366C-ED8C-35AD-1B80-DE919D3A536E}"/>
              </a:ext>
            </a:extLst>
          </p:cNvPr>
          <p:cNvSpPr/>
          <p:nvPr/>
        </p:nvSpPr>
        <p:spPr>
          <a:xfrm>
            <a:off x="142875" y="4305399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Restrict or require partial down payments for customers in the "Poor" band to mitigate upfront credit exposure</a:t>
            </a:r>
            <a:r>
              <a:rPr lang="en-US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60029-8140-F1CC-A61B-40FA3817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571625"/>
            <a:ext cx="58388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3BA5B-5250-B0E9-0CF7-0B928583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68EA48-88FE-B8E8-B749-610D4F16C2C2}"/>
              </a:ext>
            </a:extLst>
          </p:cNvPr>
          <p:cNvSpPr txBox="1"/>
          <p:nvPr/>
        </p:nvSpPr>
        <p:spPr>
          <a:xfrm>
            <a:off x="266700" y="125076"/>
            <a:ext cx="1165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</a:rPr>
              <a:t> How does income level affect default behavior?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6A51A-C640-C02D-98B3-8C166B5731A0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4BAE2D-099D-1CF4-BBB7-A444933F1428}"/>
              </a:ext>
            </a:extLst>
          </p:cNvPr>
          <p:cNvSpPr/>
          <p:nvPr/>
        </p:nvSpPr>
        <p:spPr>
          <a:xfrm>
            <a:off x="142875" y="1852759"/>
            <a:ext cx="5953126" cy="229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/>
              <a:t>Low-income and Mid-income customers account for the majority of defaults, holding 38.73% and 38.00% share of total defaults respectively, compared to 7.51% for the Very Good income band.</a:t>
            </a:r>
            <a:endParaRPr lang="en-US" sz="20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F5D7B9-D12E-FFDD-74C1-786615A5B5E4}"/>
              </a:ext>
            </a:extLst>
          </p:cNvPr>
          <p:cNvSpPr/>
          <p:nvPr/>
        </p:nvSpPr>
        <p:spPr>
          <a:xfrm>
            <a:off x="142875" y="4362547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Introduce dynamic financing terms—such as shorter installment windows and lower spend caps—specifically catered to low and middle-income segments.</a:t>
            </a: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C9CFA4-A5E6-DCB8-AC4F-DE91B5070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571624"/>
            <a:ext cx="5838825" cy="49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3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4867A-53E0-39E4-D363-B08589E0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5481BE-EA24-6D0D-70E3-854B013D3E93}"/>
              </a:ext>
            </a:extLst>
          </p:cNvPr>
          <p:cNvSpPr txBox="1"/>
          <p:nvPr/>
        </p:nvSpPr>
        <p:spPr>
          <a:xfrm>
            <a:off x="266700" y="125076"/>
            <a:ext cx="1165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</a:rPr>
              <a:t> How is the customer base distributed across risk tiers?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FF43B5-AD97-EAB6-1006-E1BB3B90B35C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4AD8FA-57A1-E50E-91B1-A8B4142AFC8C}"/>
              </a:ext>
            </a:extLst>
          </p:cNvPr>
          <p:cNvSpPr/>
          <p:nvPr/>
        </p:nvSpPr>
        <p:spPr>
          <a:xfrm>
            <a:off x="142875" y="1852759"/>
            <a:ext cx="5953126" cy="229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/>
              <a:t>Over 7.6K out of 10K customers (76%) fall into the High Risk segment, yielding an average risk score of 198.53 and an average credit score of 448.18</a:t>
            </a:r>
            <a:r>
              <a:rPr lang="en-US" sz="2400" dirty="0"/>
              <a:t>.</a:t>
            </a:r>
            <a:endParaRPr lang="en-US" sz="20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9DDD88-D4EA-6C16-7D1D-0084D8B5C3D6}"/>
              </a:ext>
            </a:extLst>
          </p:cNvPr>
          <p:cNvSpPr/>
          <p:nvPr/>
        </p:nvSpPr>
        <p:spPr>
          <a:xfrm>
            <a:off x="142875" y="4362547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Re-evaluate current underwriting algorithms; the platform is heavily over-indexed on high-risk users, calling for a rebalancing toward medium- and low-risk profiles.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0E881-E095-B31D-965A-36A58D01A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49" y="1571623"/>
            <a:ext cx="58388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18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117B8-EBBA-41D2-F829-45A7C66F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22DC96-DF63-FC41-8EDB-B760BDD5027E}"/>
              </a:ext>
            </a:extLst>
          </p:cNvPr>
          <p:cNvSpPr txBox="1"/>
          <p:nvPr/>
        </p:nvSpPr>
        <p:spPr>
          <a:xfrm>
            <a:off x="266700" y="125076"/>
            <a:ext cx="1165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</a:rPr>
              <a:t> Which product categories drive the highest revenue vs. default exposure?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8EF5D-5D1C-82D9-62A1-98F4B63314F6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823067-0E21-DEDD-66F9-7C4D8941FA23}"/>
              </a:ext>
            </a:extLst>
          </p:cNvPr>
          <p:cNvSpPr/>
          <p:nvPr/>
        </p:nvSpPr>
        <p:spPr>
          <a:xfrm>
            <a:off x="142875" y="1852759"/>
            <a:ext cx="5953126" cy="229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/>
              <a:t>Fashion (8.61M) and Electronics (8.42M) generate the highest purchase volume. Across all product categories, default rates peak in the 18–25 age group (ranging from 43% to 47% default rate).</a:t>
            </a:r>
            <a:endParaRPr lang="en-US" sz="20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11EC00-3D50-2C7D-1237-5B2E3D85AF6F}"/>
              </a:ext>
            </a:extLst>
          </p:cNvPr>
          <p:cNvSpPr/>
          <p:nvPr/>
        </p:nvSpPr>
        <p:spPr>
          <a:xfrm>
            <a:off x="142875" y="4362547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Partner with high-volume merchants (Fashion &amp; Electronics) to co-subsidize risk protection or apply category-based lending caps for younger buyers.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FBCBC-C491-0846-63C0-C942051B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49" y="1571624"/>
            <a:ext cx="58388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28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A4E0E-4F0D-9DEB-4077-2BFF4FD8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211335-4B53-9A75-14FB-9E52EBC11F45}"/>
              </a:ext>
            </a:extLst>
          </p:cNvPr>
          <p:cNvSpPr txBox="1"/>
          <p:nvPr/>
        </p:nvSpPr>
        <p:spPr>
          <a:xfrm>
            <a:off x="266700" y="125076"/>
            <a:ext cx="1165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</a:rPr>
              <a:t> How are purchases distributed across income bands?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4EF8D-74EF-82E5-C263-6E598E1471A6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36CF7A-6994-1565-2FCC-ABAB6AC53303}"/>
              </a:ext>
            </a:extLst>
          </p:cNvPr>
          <p:cNvSpPr/>
          <p:nvPr/>
        </p:nvSpPr>
        <p:spPr>
          <a:xfrm>
            <a:off x="142875" y="1852759"/>
            <a:ext cx="5953126" cy="229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/>
              <a:t>Low-income customers account for the largest share of purchase volume at 14.6M, followed by High-income at 13.1M and Mid-income at 11.7M.</a:t>
            </a:r>
            <a:endParaRPr lang="en-US" sz="20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004E27-5B54-DF39-B00F-43E411407A79}"/>
              </a:ext>
            </a:extLst>
          </p:cNvPr>
          <p:cNvSpPr/>
          <p:nvPr/>
        </p:nvSpPr>
        <p:spPr>
          <a:xfrm>
            <a:off x="142875" y="4362547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Focus marketing efforts on acquiring high-income users who spend heavily (13.1M) but maintain significantly lower default rates (15.76%).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1FBB3-7874-5505-2D50-305562E7D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61" y="1571624"/>
            <a:ext cx="5830114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2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9D1E7-C378-E34B-083C-B8C33627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358519-F0BC-AB34-0667-DD3099EC8D06}"/>
              </a:ext>
            </a:extLst>
          </p:cNvPr>
          <p:cNvSpPr txBox="1"/>
          <p:nvPr/>
        </p:nvSpPr>
        <p:spPr>
          <a:xfrm>
            <a:off x="266700" y="125076"/>
            <a:ext cx="1165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</a:rPr>
              <a:t> Which demographic purchasing segment brings the highest total revenue?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BBA4C-25F8-FE19-7C6E-0A288F0C8644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9A5B4C-BB86-03D7-8197-F5684F4414E1}"/>
              </a:ext>
            </a:extLst>
          </p:cNvPr>
          <p:cNvSpPr/>
          <p:nvPr/>
        </p:nvSpPr>
        <p:spPr>
          <a:xfrm>
            <a:off x="142875" y="1852759"/>
            <a:ext cx="5953126" cy="229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/>
              <a:t>The 46–60 age group generates the highest purchase amount (14.5M), despite representing only 33.63% (3.48K) of the customer base.</a:t>
            </a:r>
            <a:endParaRPr lang="en-US" sz="20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17EA937-288B-864B-37B4-3BBFA79DE7C0}"/>
              </a:ext>
            </a:extLst>
          </p:cNvPr>
          <p:cNvSpPr/>
          <p:nvPr/>
        </p:nvSpPr>
        <p:spPr>
          <a:xfrm>
            <a:off x="142875" y="4362547"/>
            <a:ext cx="5953126" cy="21525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Create tailored loyalty and cross-selling campaigns targeted at the 46–60 age bracket, as they offer the highest lifetime value and lowest risk.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E0AB8-7F3A-D36F-0A7A-655A15960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571624"/>
            <a:ext cx="5829299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63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6BC9C-BC89-EC29-A390-2947A05F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3F30BA-5502-A235-B322-518A44E8FDC4}"/>
              </a:ext>
            </a:extLst>
          </p:cNvPr>
          <p:cNvSpPr txBox="1"/>
          <p:nvPr/>
        </p:nvSpPr>
        <p:spPr>
          <a:xfrm>
            <a:off x="266700" y="125076"/>
            <a:ext cx="11658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bg1"/>
                </a:solidFill>
              </a:rPr>
              <a:t> Is the current collection and recovery model performing effectively?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133A5-6EF7-06B2-46EE-16B3F0290611}"/>
              </a:ext>
            </a:extLst>
          </p:cNvPr>
          <p:cNvSpPr/>
          <p:nvPr/>
        </p:nvSpPr>
        <p:spPr>
          <a:xfrm>
            <a:off x="6229350" y="1571625"/>
            <a:ext cx="5838825" cy="4943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2DDB86-A468-B254-4024-5BCD24A0E18B}"/>
              </a:ext>
            </a:extLst>
          </p:cNvPr>
          <p:cNvSpPr/>
          <p:nvPr/>
        </p:nvSpPr>
        <p:spPr>
          <a:xfrm>
            <a:off x="142875" y="1852759"/>
            <a:ext cx="5953126" cy="229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Insight: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400" b="1" dirty="0"/>
              <a:t>Only 4.79M out of 41.17M total purchase amounts are collected on time, leaving 36.38M exposed to repayment delays and potential default.</a:t>
            </a:r>
            <a:endParaRPr lang="en-US" sz="2000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175FB9-6646-BA58-0534-5C27832093F6}"/>
              </a:ext>
            </a:extLst>
          </p:cNvPr>
          <p:cNvSpPr/>
          <p:nvPr/>
        </p:nvSpPr>
        <p:spPr>
          <a:xfrm>
            <a:off x="142875" y="4424507"/>
            <a:ext cx="5953126" cy="20905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Recommendation: </a:t>
            </a:r>
            <a:r>
              <a:rPr lang="en-US" sz="2400" b="1" dirty="0"/>
              <a:t>Restructure the repayment schedule by offering automated auto-debit discounts, flexible restructuring options, and early payment incentives.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8893E-9DB9-0218-628A-886845B1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571624"/>
            <a:ext cx="58388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3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7AE74-EB4A-C2FE-1022-FFDA7CD6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1EEE8D69-8ECC-6A67-ABD1-7B5863EBF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9570209"/>
              </p:ext>
            </p:extLst>
          </p:nvPr>
        </p:nvGraphicFramePr>
        <p:xfrm>
          <a:off x="0" y="-76200"/>
          <a:ext cx="12344400" cy="6063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015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8EF84-847E-D341-EDDC-DB0DA509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A21E872-5EC3-0B8F-60F1-AF7A9CEE44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1867804"/>
              </p:ext>
            </p:extLst>
          </p:nvPr>
        </p:nvGraphicFramePr>
        <p:xfrm>
          <a:off x="0" y="-76200"/>
          <a:ext cx="12344400" cy="6617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853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4972E-93E5-555C-4D21-879163EB6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F4A27-AACA-D1AC-368C-012814081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2500" y="420414"/>
            <a:ext cx="9694479" cy="571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27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794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mohmed elsayed mohmed</dc:creator>
  <cp:lastModifiedBy>mohmed elsayed mohmed</cp:lastModifiedBy>
  <cp:revision>3</cp:revision>
  <dcterms:created xsi:type="dcterms:W3CDTF">2026-08-21T17:34:13Z</dcterms:created>
  <dcterms:modified xsi:type="dcterms:W3CDTF">2026-08-21T20:39:39Z</dcterms:modified>
</cp:coreProperties>
</file>